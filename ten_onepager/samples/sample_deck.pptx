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Q3 2025</c:v>
                </c:pt>
                <c:pt idx="1">
                  <c:v>Q4 2025</c:v>
                </c:pt>
                <c:pt idx="2">
                  <c:v>Q1 2026</c:v>
                </c:pt>
                <c:pt idx="3">
                  <c:v>Q2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0.68</c:v>
                </c:pt>
                <c:pt idx="2">
                  <c:v>0.95</c:v>
                </c:pt>
                <c:pt idx="3">
                  <c:v>1.2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FICTIONAL SAMPLE: Northpeak Cold Chain is an invented company. All names and figures are made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Pilots convert to paid after 90 days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Northpeak Cold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10972800" cy="4572000"/>
          </a:xfrm>
        </p:spPr>
        <p:txBody>
          <a:bodyPr/>
          <a:lstStyle/>
          <a:p>
            <a:r>
              <a:rPr sz="2000"/>
              <a:t>Real-time spoilage prevention for regional food distributors</a:t>
            </a:r>
          </a:p>
          <a:p>
            <a:r>
              <a:rPr sz="2000"/>
              <a:t>FICTIONAL SAMPLE: Northpeak Cold Chain is an invented company. All names and figures are made up.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10972800" cy="4572000"/>
          </a:xfrm>
        </p:spPr>
        <p:txBody>
          <a:bodyPr/>
          <a:lstStyle/>
          <a:p>
            <a:r>
              <a:rPr sz="2000"/>
              <a:t>US regional food distributors lose 4-6% of perishable inventory to temperature excursions (Northpeak survey of 40 distributors, 2025).</a:t>
            </a:r>
          </a:p>
          <a:p>
            <a:r>
              <a:rPr sz="2000"/>
              <a:t>A typical customer: $180M annual revenue and $3.6M in annual spoilage write-offs.</a:t>
            </a:r>
          </a:p>
          <a:p>
            <a:r>
              <a:rPr sz="2000"/>
              <a:t>Existing data loggers report excursions after the fact, when product is already lost.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10972800" cy="4572000"/>
          </a:xfrm>
        </p:spPr>
        <p:txBody>
          <a:bodyPr/>
          <a:lstStyle/>
          <a:p>
            <a:r>
              <a:rPr sz="2000"/>
              <a:t>Wireless sensors plus prediction software that alerts staff about 6 hours before an excursion.</a:t>
            </a:r>
          </a:p>
          <a:p>
            <a:r>
              <a:rPr sz="2000"/>
              <a:t>Pilot customers cut spoilage by 31% over 6 months.</a:t>
            </a:r>
          </a:p>
          <a:p>
            <a:r>
              <a:rPr sz="2000"/>
              <a:t>Installs in one day per warehouse; no changes to existing refrigeration.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6766560" cy="4572000"/>
          </a:xfrm>
        </p:spPr>
        <p:txBody>
          <a:bodyPr/>
          <a:lstStyle/>
          <a:p>
            <a:r>
              <a:rPr sz="2000"/>
              <a:t>ARR: $1.2M (June 2026)</a:t>
            </a:r>
          </a:p>
          <a:p>
            <a:r>
              <a:rPr sz="2000"/>
              <a:t>14 paying customers; 5 additional pilots in progress</a:t>
            </a:r>
          </a:p>
          <a:p>
            <a:r>
              <a:rPr sz="2000"/>
              <a:t>Net revenue retention: 118% (trailing 12 months)</a:t>
            </a:r>
          </a:p>
          <a:p>
            <a:r>
              <a:rPr sz="2000"/>
              <a:t>3 signed letters of intent from national grocery chains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589520" y="1463040"/>
          <a:ext cx="4114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10972800" cy="4572000"/>
          </a:xfrm>
        </p:spPr>
        <p:txBody>
          <a:bodyPr/>
          <a:lstStyle/>
          <a:p>
            <a:r>
              <a:rPr sz="2000"/>
              <a:t>TAM: $9.4B global cold-chain monitoring market (2026, third-party industry report)</a:t>
            </a:r>
          </a:p>
          <a:p>
            <a:r>
              <a:rPr sz="2000"/>
              <a:t>SAM: $1.1B US regional food distributors (bottom-up: 2,600 distributors x $420K annual spoilage-prevention budget)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10972800" cy="4572000"/>
          </a:xfrm>
        </p:spPr>
        <p:txBody>
          <a:bodyPr/>
          <a:lstStyle/>
          <a:p>
            <a:r>
              <a:rPr sz="2000"/>
              <a:t>Predictive alerts versus after-the-fact logging</a:t>
            </a:r>
          </a:p>
          <a:p>
            <a:r>
              <a:rPr sz="2000"/>
              <a:t>2 US patents pending on the excursion-prediction model</a:t>
            </a:r>
          </a:p>
          <a:p>
            <a:r>
              <a:rPr sz="2000"/>
              <a:t>Trained on 3.2 billion sensor readings from customer sites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10972800" cy="4572000"/>
          </a:xfrm>
        </p:spPr>
        <p:txBody>
          <a:bodyPr/>
          <a:lstStyle/>
          <a:p>
            <a:r>
              <a:rPr sz="2000"/>
              <a:t>Dana Whitfield, CEO: former VP Operations at a regional food distributor (12 years)</a:t>
            </a:r>
          </a:p>
          <a:p>
            <a:r>
              <a:rPr sz="2000"/>
              <a:t>Ravi Menon, CTO: IoT engineering lead; 2 prior startups, 1 acquired</a:t>
            </a:r>
          </a:p>
          <a:p>
            <a:r>
              <a:rPr sz="2000"/>
              <a:t>Head of Sales: hiring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raise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10972800" cy="4572000"/>
          </a:xfrm>
        </p:spPr>
        <p:txBody>
          <a:bodyPr/>
          <a:lstStyle/>
          <a:p>
            <a:r>
              <a:rPr sz="2000"/>
              <a:t>Raising $4.0M Seed on a SAFE with a $16M post-money valuation cap</a:t>
            </a:r>
          </a:p>
          <a:p>
            <a:r>
              <a:rPr sz="2000"/>
              <a:t>$0.6M received from angel investors</a:t>
            </a:r>
          </a:p>
          <a:p>
            <a:r>
              <a:rPr sz="2000"/>
              <a:t>$1.5M additionally soft-circled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10972800" cy="4572000"/>
          </a:xfrm>
        </p:spPr>
        <p:txBody>
          <a:bodyPr/>
          <a:lstStyle/>
          <a:p>
            <a:r>
              <a:rPr sz="2000"/>
              <a:t>Product &amp; engineering 40% | Sales &amp; marketing 35% | Operations 15% | G&amp;A 10%</a:t>
            </a:r>
          </a:p>
          <a:p>
            <a:r>
              <a:rPr sz="2000"/>
              <a:t>18-month runway</a:t>
            </a:r>
          </a:p>
          <a:p>
            <a:r>
              <a:rPr sz="2000"/>
              <a:t>Milestone: $3.5M ARR by end of 2027 (projected)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10972800" cy="4572000"/>
          </a:xfrm>
        </p:spPr>
        <p:txBody>
          <a:bodyPr/>
          <a:lstStyle/>
          <a:p>
            <a:r>
              <a:rPr sz="2000"/>
              <a:t>Current ARR: $1.4M</a:t>
            </a:r>
          </a:p>
          <a:p>
            <a:r>
              <a:rPr sz="2000"/>
              <a:t>Projected revenue: 2027E $3.5M, 2028E $8.0M</a:t>
            </a:r>
          </a:p>
          <a:p>
            <a:r>
              <a:rPr sz="2000"/>
              <a:t>Gross margin target: 70%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